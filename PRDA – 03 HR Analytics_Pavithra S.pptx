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CE6D2-6F25-4833-B0C4-47F427F8D50F}" v="7" dt="2026-10-01T06:04:50.286"/>
    <p1510:client id="{72E897D4-BF74-4332-8A6B-42B49576D492}" v="12" dt="2026-10-01T05:25:53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thra Shekar" userId="c597384a24470e8c" providerId="LiveId" clId="{298CE6D2-6F25-4833-B0C4-47F427F8D50F}"/>
    <pc:docChg chg="custSel modSld">
      <pc:chgData name="Pavithra Shekar" userId="c597384a24470e8c" providerId="LiveId" clId="{298CE6D2-6F25-4833-B0C4-47F427F8D50F}" dt="2026-10-01T10:36:51.302" v="70" actId="20577"/>
      <pc:docMkLst>
        <pc:docMk/>
      </pc:docMkLst>
      <pc:sldChg chg="modSp mod">
        <pc:chgData name="Pavithra Shekar" userId="c597384a24470e8c" providerId="LiveId" clId="{298CE6D2-6F25-4833-B0C4-47F427F8D50F}" dt="2026-10-01T10:36:51.302" v="70" actId="20577"/>
        <pc:sldMkLst>
          <pc:docMk/>
          <pc:sldMk cId="48406919" sldId="256"/>
        </pc:sldMkLst>
        <pc:spChg chg="mod">
          <ac:chgData name="Pavithra Shekar" userId="c597384a24470e8c" providerId="LiveId" clId="{298CE6D2-6F25-4833-B0C4-47F427F8D50F}" dt="2026-10-01T10:36:51.302" v="70" actId="20577"/>
          <ac:spMkLst>
            <pc:docMk/>
            <pc:sldMk cId="48406919" sldId="256"/>
            <ac:spMk id="3" creationId="{BAC1F856-E650-5487-58EB-B40646E59540}"/>
          </ac:spMkLst>
        </pc:spChg>
      </pc:sldChg>
      <pc:sldChg chg="addSp delSp modSp mod">
        <pc:chgData name="Pavithra Shekar" userId="c597384a24470e8c" providerId="LiveId" clId="{298CE6D2-6F25-4833-B0C4-47F427F8D50F}" dt="2026-10-01T06:05:40.762" v="68" actId="255"/>
        <pc:sldMkLst>
          <pc:docMk/>
          <pc:sldMk cId="1117720911" sldId="261"/>
        </pc:sldMkLst>
        <pc:spChg chg="add del mod">
          <ac:chgData name="Pavithra Shekar" userId="c597384a24470e8c" providerId="LiveId" clId="{298CE6D2-6F25-4833-B0C4-47F427F8D50F}" dt="2026-10-01T06:02:45.944" v="43" actId="21"/>
          <ac:spMkLst>
            <pc:docMk/>
            <pc:sldMk cId="1117720911" sldId="261"/>
            <ac:spMk id="2" creationId="{A2B012D8-B10F-7B2F-8385-0CE1BF6C7BB1}"/>
          </ac:spMkLst>
        </pc:spChg>
        <pc:spChg chg="add del mod">
          <ac:chgData name="Pavithra Shekar" userId="c597384a24470e8c" providerId="LiveId" clId="{298CE6D2-6F25-4833-B0C4-47F427F8D50F}" dt="2026-10-01T06:03:46.562" v="52"/>
          <ac:spMkLst>
            <pc:docMk/>
            <pc:sldMk cId="1117720911" sldId="261"/>
            <ac:spMk id="3" creationId="{D1736577-30D5-5849-B401-4D528BB3C9AC}"/>
          </ac:spMkLst>
        </pc:spChg>
        <pc:spChg chg="add del mod">
          <ac:chgData name="Pavithra Shekar" userId="c597384a24470e8c" providerId="LiveId" clId="{298CE6D2-6F25-4833-B0C4-47F427F8D50F}" dt="2026-10-01T06:03:46.562" v="54"/>
          <ac:spMkLst>
            <pc:docMk/>
            <pc:sldMk cId="1117720911" sldId="261"/>
            <ac:spMk id="5" creationId="{CD93E0E1-C1DC-936C-EB6B-0AE779755427}"/>
          </ac:spMkLst>
        </pc:spChg>
        <pc:spChg chg="add del mod">
          <ac:chgData name="Pavithra Shekar" userId="c597384a24470e8c" providerId="LiveId" clId="{298CE6D2-6F25-4833-B0C4-47F427F8D50F}" dt="2026-10-01T06:03:46.562" v="56"/>
          <ac:spMkLst>
            <pc:docMk/>
            <pc:sldMk cId="1117720911" sldId="261"/>
            <ac:spMk id="6" creationId="{4214B32A-D913-F493-DBC3-950A4B50751E}"/>
          </ac:spMkLst>
        </pc:spChg>
        <pc:spChg chg="del mod">
          <ac:chgData name="Pavithra Shekar" userId="c597384a24470e8c" providerId="LiveId" clId="{298CE6D2-6F25-4833-B0C4-47F427F8D50F}" dt="2026-10-01T06:02:39.651" v="41" actId="21"/>
          <ac:spMkLst>
            <pc:docMk/>
            <pc:sldMk cId="1117720911" sldId="261"/>
            <ac:spMk id="7" creationId="{A2B012D8-B10F-7B2F-8385-0CE1BF6C7BB1}"/>
          </ac:spMkLst>
        </pc:spChg>
        <pc:spChg chg="add mod">
          <ac:chgData name="Pavithra Shekar" userId="c597384a24470e8c" providerId="LiveId" clId="{298CE6D2-6F25-4833-B0C4-47F427F8D50F}" dt="2026-10-01T06:03:45.452" v="50" actId="14100"/>
          <ac:spMkLst>
            <pc:docMk/>
            <pc:sldMk cId="1117720911" sldId="261"/>
            <ac:spMk id="8" creationId="{BA69155C-C671-5AFD-4190-226B69A2DCB7}"/>
          </ac:spMkLst>
        </pc:spChg>
        <pc:spChg chg="add del mod">
          <ac:chgData name="Pavithra Shekar" userId="c597384a24470e8c" providerId="LiveId" clId="{298CE6D2-6F25-4833-B0C4-47F427F8D50F}" dt="2026-10-01T06:04:36.429" v="59" actId="21"/>
          <ac:spMkLst>
            <pc:docMk/>
            <pc:sldMk cId="1117720911" sldId="261"/>
            <ac:spMk id="10" creationId="{DA39D8A5-39F9-F6E5-67D6-11FDDF30A8EB}"/>
          </ac:spMkLst>
        </pc:spChg>
        <pc:spChg chg="add mod">
          <ac:chgData name="Pavithra Shekar" userId="c597384a24470e8c" providerId="LiveId" clId="{298CE6D2-6F25-4833-B0C4-47F427F8D50F}" dt="2026-10-01T06:05:40.762" v="68" actId="255"/>
          <ac:spMkLst>
            <pc:docMk/>
            <pc:sldMk cId="1117720911" sldId="261"/>
            <ac:spMk id="11" creationId="{2E07E349-5BEA-0D3D-B550-57421E015C97}"/>
          </ac:spMkLst>
        </pc:spChg>
        <pc:spChg chg="add mod">
          <ac:chgData name="Pavithra Shekar" userId="c597384a24470e8c" providerId="LiveId" clId="{298CE6D2-6F25-4833-B0C4-47F427F8D50F}" dt="2026-10-01T06:04:50.286" v="61"/>
          <ac:spMkLst>
            <pc:docMk/>
            <pc:sldMk cId="1117720911" sldId="261"/>
            <ac:spMk id="12" creationId="{DA39D8A5-39F9-F6E5-67D6-11FDDF30A8EB}"/>
          </ac:spMkLst>
        </pc:spChg>
        <pc:picChg chg="mod">
          <ac:chgData name="Pavithra Shekar" userId="c597384a24470e8c" providerId="LiveId" clId="{298CE6D2-6F25-4833-B0C4-47F427F8D50F}" dt="2026-10-01T06:03:07.205" v="46" actId="1076"/>
          <ac:picMkLst>
            <pc:docMk/>
            <pc:sldMk cId="1117720911" sldId="261"/>
            <ac:picMk id="4" creationId="{A0967E61-CD71-F49B-9AB3-8020496805B9}"/>
          </ac:picMkLst>
        </pc:picChg>
      </pc:sldChg>
      <pc:sldChg chg="modSp mod">
        <pc:chgData name="Pavithra Shekar" userId="c597384a24470e8c" providerId="LiveId" clId="{298CE6D2-6F25-4833-B0C4-47F427F8D50F}" dt="2026-10-01T05:45:04.157" v="38" actId="113"/>
        <pc:sldMkLst>
          <pc:docMk/>
          <pc:sldMk cId="1694999154" sldId="262"/>
        </pc:sldMkLst>
        <pc:spChg chg="mod">
          <ac:chgData name="Pavithra Shekar" userId="c597384a24470e8c" providerId="LiveId" clId="{298CE6D2-6F25-4833-B0C4-47F427F8D50F}" dt="2026-10-01T05:45:04.157" v="38" actId="113"/>
          <ac:spMkLst>
            <pc:docMk/>
            <pc:sldMk cId="1694999154" sldId="262"/>
            <ac:spMk id="3" creationId="{2DB7656B-BC08-5712-CBD7-5FC33DC56FCC}"/>
          </ac:spMkLst>
        </pc:spChg>
      </pc:sldChg>
      <pc:sldChg chg="modSp mod">
        <pc:chgData name="Pavithra Shekar" userId="c597384a24470e8c" providerId="LiveId" clId="{298CE6D2-6F25-4833-B0C4-47F427F8D50F}" dt="2026-10-01T05:36:24.875" v="6" actId="20577"/>
        <pc:sldMkLst>
          <pc:docMk/>
          <pc:sldMk cId="2584802068" sldId="268"/>
        </pc:sldMkLst>
        <pc:spChg chg="mod">
          <ac:chgData name="Pavithra Shekar" userId="c597384a24470e8c" providerId="LiveId" clId="{298CE6D2-6F25-4833-B0C4-47F427F8D50F}" dt="2026-10-01T05:36:24.875" v="6" actId="20577"/>
          <ac:spMkLst>
            <pc:docMk/>
            <pc:sldMk cId="2584802068" sldId="268"/>
            <ac:spMk id="4" creationId="{2AA0AA19-BDDC-DF7E-95E5-F4DC5F3537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C7EB-44AB-9052-3007-356169F49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B7091-088F-0440-127F-9B9D4A47E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CEFD0-3889-BF1E-799F-FCB142AB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02A-0DFE-4CA1-A44B-0023CF91570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54D48-2499-A434-12EA-E33D005A8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415F3-E4A2-C273-1385-B5F4353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B882-78E4-49A8-BBD1-F8AD1E944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36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B70C-01DB-5B88-B808-F8B32BA6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5C358-1F85-E88E-112C-E27AC1A5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98979-8A81-441A-2620-35CF7E642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02A-0DFE-4CA1-A44B-0023CF91570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4C60-4198-498D-13AC-84B20EB5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6855B-DC15-0AE0-C376-28D84392A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B882-78E4-49A8-BBD1-F8AD1E944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197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D12DA-7155-79F2-04F0-9A28582C7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CE0CE-245F-E795-30BE-4FD25940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9522F-B4BC-1750-2224-49751D813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02A-0DFE-4CA1-A44B-0023CF91570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058CD-CA5B-777D-572B-A96BB42D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CB6FD-5286-649B-E0DC-103FB852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B882-78E4-49A8-BBD1-F8AD1E944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15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FB35-7179-4005-5237-CCFAF9DF2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21C71-D7CC-F32F-40B2-99C7AF5F8D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F0F43-2D5F-39B0-0745-481866604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C2A64-3304-37CA-58F0-CED096A6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02A-0DFE-4CA1-A44B-0023CF91570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FEB73-4F9F-4720-4B71-D321C0F05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DDDFD-4AAA-4E48-7E8B-796F57651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B882-78E4-49A8-BBD1-F8AD1E944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31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5527-2040-4BF3-D082-B7F2C86FD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BCFDC-ECDC-24DB-3440-DEDD10CA4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667F1-3B8D-D986-2552-DF8361C6C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8761A8-81CF-CA64-290B-875CD1144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5A08F0-E1A3-D585-AA3D-E50FFF407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0DAA62-982C-5ADF-BB51-FAC7B9D8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02A-0DFE-4CA1-A44B-0023CF91570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1749C9-3790-52B1-AB74-0E8E0DFCE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586D1-B079-C322-DD49-460E62FDA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B882-78E4-49A8-BBD1-F8AD1E944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58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8B6B-1F36-50B0-07B5-FCCEABC32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C95F4-C649-C4DD-16ED-EC594F274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02A-0DFE-4CA1-A44B-0023CF91570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E6307F-61A4-79BC-64BD-9AAAA6A7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7E038-1180-9082-5AE7-14F61C85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B882-78E4-49A8-BBD1-F8AD1E944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8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4DC250-EDAD-7E11-60CF-7C2450FE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02A-0DFE-4CA1-A44B-0023CF91570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A9EA1-4077-5C46-5046-99493D377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5A8C7-FCEC-C910-B56F-299D5A957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B882-78E4-49A8-BBD1-F8AD1E944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01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85EF-2E03-8514-35BD-F6C6AEEC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89ED0-DD4E-8D8D-ECC3-DE4A99F03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29EEB-1AB4-91B8-0660-E4CA159AB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17E13-EE73-AE36-8AA2-8A6A5F6C3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02A-0DFE-4CA1-A44B-0023CF91570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E2EE8-71A6-A9D5-8AA4-D185377F3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FAA50-2639-8EED-1448-CB73DC3B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B882-78E4-49A8-BBD1-F8AD1E944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62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30C3C-BC57-7B30-30E2-7E62BB284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3E65A7-E634-F1F4-5683-7D1372661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37A4B-8FA0-5427-F7A7-0578EB28A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1D506-B9FF-B21B-AB77-9573EA57D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02A-0DFE-4CA1-A44B-0023CF91570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1F51C-80A1-3CAD-7B82-8D61CDFE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A36A5-19C5-F0D3-0330-95CB0F1DD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B882-78E4-49A8-BBD1-F8AD1E944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69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17BEB-FD99-22C4-52C6-675289CE8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5DED15-F983-2BD1-933D-E1D8DC62A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7F715-E5B3-2D60-B808-152AEFAB6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02A-0DFE-4CA1-A44B-0023CF91570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A3D4D-0905-FBA2-E99F-98150CDB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13475-FAE2-552E-4D11-3E5B1049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B882-78E4-49A8-BBD1-F8AD1E944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898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A1747-2192-8E72-D0EE-4AD48CFBE2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94BF54-8AE5-E362-5F0F-FF7B9D882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02B02-4E13-AB9E-3984-5FBB3FDC3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02A-0DFE-4CA1-A44B-0023CF91570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76E6D-EE17-A426-FAF4-8D6F02EF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1C39F-2B20-6CA0-7FA6-60EAB9BB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6B882-78E4-49A8-BBD1-F8AD1E944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70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B935CD-44ED-0265-D7DE-4377B1574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25104-FC20-E413-C8BF-B45D77689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8A1E-76D1-7392-8536-7CC1C91BD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E602A-0DFE-4CA1-A44B-0023CF915702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A32BC-13D0-8CF0-0B71-86380CC1F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53FBA-1820-CEDC-7974-3605814D0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6B882-78E4-49A8-BBD1-F8AD1E9441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797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F969-408D-719A-D6FA-B9A99B125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PRDA – 03 HR Analytics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1F856-E650-5487-58EB-B40646E595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Pavithra S</a:t>
            </a:r>
          </a:p>
          <a:p>
            <a:r>
              <a:rPr lang="en-IN"/>
              <a:t>01/10/26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40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A097C-81EB-AD62-F38E-DA32FA47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Agenda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404BC8-6333-7788-AB55-1D4C1E5694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4581"/>
            <a:ext cx="683676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KPIs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Q&amp;A</a:t>
            </a:r>
          </a:p>
        </p:txBody>
      </p:sp>
    </p:spTree>
    <p:extLst>
      <p:ext uri="{BB962C8B-B14F-4D97-AF65-F5344CB8AC3E}">
        <p14:creationId xmlns:p14="http://schemas.microsoft.com/office/powerpoint/2010/main" val="2335864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8EA1-D22A-5A25-B3CF-047CF654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Data 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87281-541E-A01D-C08A-5BBFE1FC3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HR dataset contains records of approximately 22,214 employees spanning from 2000 to 2020. It captures demographic details, organizational structure, and employment history, giving us a comprehensive view of the workforce.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Age, Gender, Race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Department, Job Title, Location [HQ vs Remote, State, City ]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Hire Date, Term Date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analyze workforce distribution, diversity and hiring trends.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481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020D-9AC8-38EF-334F-15D1290B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Key Force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CA842-1AC0-5046-2670-AF3337CB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115"/>
            <a:ext cx="10515600" cy="48278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our workforce at a glance, here are the three most important metrics that summarize employee distribution and demographics.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1B1114-CA60-4373-4D36-189494CC9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98065"/>
            <a:ext cx="2476715" cy="1455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13A2DA-61D7-3D90-C95C-F7A911E41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52602"/>
            <a:ext cx="2476715" cy="15012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B97261-D752-B69B-A252-60C048B755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248" y="2398065"/>
            <a:ext cx="6422163" cy="409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75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D6B732D-59EC-7CD9-16D3-B620BC81A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89" y="1436914"/>
            <a:ext cx="5592611" cy="4553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D41EF0-8711-7C80-0CC1-C0A4EEE9739B}"/>
              </a:ext>
            </a:extLst>
          </p:cNvPr>
          <p:cNvSpPr txBox="1"/>
          <p:nvPr/>
        </p:nvSpPr>
        <p:spPr>
          <a:xfrm>
            <a:off x="699796" y="373224"/>
            <a:ext cx="111500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🌍 Employees by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667067-FBBA-7114-D534-D8E1BDF57547}"/>
              </a:ext>
            </a:extLst>
          </p:cNvPr>
          <p:cNvSpPr txBox="1"/>
          <p:nvPr/>
        </p:nvSpPr>
        <p:spPr>
          <a:xfrm>
            <a:off x="6410131" y="1548882"/>
            <a:ext cx="517848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Ohio has a significantly higher number of employees compared to all other states.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States like Kentucky and Wisconsin have relatively fewer employees.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r>
              <a:rPr lang="en-US" sz="2000" dirty="0"/>
              <a:t>➡️ The workforce is concentrated in Ohio, indicating it may be the company’s primary hub or headquarters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7968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03AA59-9599-EB78-9E43-5506D0BDE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06" y="1549916"/>
            <a:ext cx="6212070" cy="37581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7011D9-40E3-1A13-CA29-ABC418977675}"/>
              </a:ext>
            </a:extLst>
          </p:cNvPr>
          <p:cNvSpPr txBox="1"/>
          <p:nvPr/>
        </p:nvSpPr>
        <p:spPr>
          <a:xfrm>
            <a:off x="474306" y="345233"/>
            <a:ext cx="112433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📊 Employees by Department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522289-6C38-9CC8-6EDE-DDEA2736F253}"/>
              </a:ext>
            </a:extLst>
          </p:cNvPr>
          <p:cNvSpPr txBox="1"/>
          <p:nvPr/>
        </p:nvSpPr>
        <p:spPr>
          <a:xfrm>
            <a:off x="6839339" y="1847461"/>
            <a:ext cx="495455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Engineering has the largest workforce, standing out as the dominant department.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Accounting follows as the second largest.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Departments like Auditing and Legal have the smallest employee counts.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➡️ This suggests the company is heavily tech-focused, with support functions being leaner.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9855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20CF12E-9A7E-A532-E965-323E1B221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16" y="1390262"/>
            <a:ext cx="11224726" cy="27038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C04B67-5BC6-8A3A-B4ED-DDA104B10BE2}"/>
              </a:ext>
            </a:extLst>
          </p:cNvPr>
          <p:cNvSpPr txBox="1"/>
          <p:nvPr/>
        </p:nvSpPr>
        <p:spPr>
          <a:xfrm>
            <a:off x="513184" y="401216"/>
            <a:ext cx="11056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🧑‍🤝‍🧑 Employees by 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7552E-B9CB-6223-DE55-B3E416AA4903}"/>
              </a:ext>
            </a:extLst>
          </p:cNvPr>
          <p:cNvSpPr txBox="1"/>
          <p:nvPr/>
        </p:nvSpPr>
        <p:spPr>
          <a:xfrm>
            <a:off x="513184" y="4310743"/>
            <a:ext cx="108794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employees identify as White.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groups such as Black or African American, Asian, and Hispanic or Latino are present but in smaller proportions.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Hawaiian or Other Pacific Islander has the lowest representation.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➡️ Diversity exists but is uneven, with one group dominating the workforce composition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6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967E61-CD71-F49B-9AB3-802049680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12" y="902751"/>
            <a:ext cx="11663265" cy="50524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69155C-C671-5AFD-4190-226B69A2DCB7}"/>
              </a:ext>
            </a:extLst>
          </p:cNvPr>
          <p:cNvSpPr txBox="1"/>
          <p:nvPr/>
        </p:nvSpPr>
        <p:spPr>
          <a:xfrm>
            <a:off x="4152123" y="6130212"/>
            <a:ext cx="7576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kern="120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“Hiring peaked in 2005 and 2015, but declined steadily after 2015, indicating a shift in workforce strategy.”</a:t>
            </a:r>
            <a:endParaRPr lang="en-IN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07E349-5BEA-0D3D-B550-57421E015C97}"/>
              </a:ext>
            </a:extLst>
          </p:cNvPr>
          <p:cNvSpPr txBox="1"/>
          <p:nvPr/>
        </p:nvSpPr>
        <p:spPr>
          <a:xfrm>
            <a:off x="578497" y="261272"/>
            <a:ext cx="9927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Hiring Trends (2000–2020)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39D8A5-39F9-F6E5-67D6-11FDDF30A8EB}"/>
              </a:ext>
            </a:extLst>
          </p:cNvPr>
          <p:cNvSpPr txBox="1"/>
          <p:nvPr/>
        </p:nvSpPr>
        <p:spPr>
          <a:xfrm>
            <a:off x="3048778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7720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C7689-81AF-D17B-3CE1-AEC33F8E1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Hiring Trend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7656B-BC08-5712-CBD7-5FC33DC56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2000 - 2001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Sharp increase in hiring, marking a strong growth phase.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2002- 2005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Several Peaks, with a notable high around 2005.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2006- 2010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Fluctuations with moderate hiring activity.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2011- 2015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Another surge, peaking around 2015.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2015-2022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Gradual Decline in hiring, showing reduced recruitment activity in recent years.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b="1" dirty="0">
                <a:cs typeface="Times New Roman" panose="02020603050405020304" pitchFamily="18" charset="0"/>
              </a:rPr>
              <a:t>“</a:t>
            </a:r>
            <a:r>
              <a:rPr lang="en-US" sz="2100" b="1" dirty="0"/>
              <a:t>Attrition stands at ~18%, which is above industry norms. With hiring declining after 2015, the workforce is contracting. Retention strategies are critical to stabilize headcount.”</a:t>
            </a:r>
            <a:endParaRPr lang="en-IN" sz="2100" b="1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                                 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999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B883B-1BCB-8BF7-2B0C-0D08673BA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90" y="26248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Analysis of your HR dataset across multiple features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3C5CE-A21B-D6A1-619F-7DDDB5A0D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7501"/>
            <a:ext cx="10515600" cy="446946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Workforce Size &amp;Distribution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Total Employees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22,214 based on the dataset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Location Split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Majority[~75.25%] are based at Headquarters (Cleveland, Ohio),while [~24.75%] are Remote across various U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S.States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 Preference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Employees are spread across Ohio, Pennsylvania, Michigan, Kentucky, Indiana etc, showing a mix of concentration and remote diversity.</a:t>
            </a:r>
          </a:p>
        </p:txBody>
      </p:sp>
    </p:spTree>
    <p:extLst>
      <p:ext uri="{BB962C8B-B14F-4D97-AF65-F5344CB8AC3E}">
        <p14:creationId xmlns:p14="http://schemas.microsoft.com/office/powerpoint/2010/main" val="2714504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98F1-4902-829E-C30D-A8EB8A199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4712"/>
            <a:ext cx="10515600" cy="1325563"/>
          </a:xfrm>
        </p:spPr>
        <p:txBody>
          <a:bodyPr/>
          <a:lstStyle/>
          <a:p>
            <a:r>
              <a:rPr lang="en-IN" b="1" dirty="0">
                <a:latin typeface="+mn-lt"/>
              </a:rPr>
              <a:t>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A8FB7-FEE2-4E0D-191D-D0D813138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502"/>
            <a:ext cx="10515600" cy="4701090"/>
          </a:xfrm>
        </p:spPr>
        <p:txBody>
          <a:bodyPr>
            <a:normAutofit lnSpcReduction="10000"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Predominantly Male and Female, with a small representation of Non-Conforming employees.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Diverse workforce including White, Black or African American, Asian, and Two or More Races,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Average is ~38.4 years.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Youngest Employees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~20-22years.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Oldest Employees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:~ 57 years.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Employees fall in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25-45 age range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mid-career workforce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044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EDA0-BB0B-F6AB-4271-6453DBABB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+mn-lt"/>
              </a:rPr>
              <a:t>Departmental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3B5F-20C1-06A4-A20E-595FB7E1F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Departments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Engineering, Business Development, Services, and Training.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Departments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Legal, Auditing, Marketing, and Research &amp; Development.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 out as the backbone, employing a wide range of roles (Developers, Programmers, Analysts, System Admins)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692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C539B-714B-060B-E8CD-DD55C8A4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952"/>
            <a:ext cx="10515600" cy="942392"/>
          </a:xfrm>
        </p:spPr>
        <p:txBody>
          <a:bodyPr>
            <a:normAutofit/>
          </a:bodyPr>
          <a:lstStyle/>
          <a:p>
            <a:r>
              <a:rPr lang="en-IN" b="1" dirty="0">
                <a:latin typeface="+mn-lt"/>
              </a:rPr>
              <a:t>Insights Derived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492C5-50BF-5D67-7263-F4C6B2205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608"/>
            <a:ext cx="10515600" cy="5149267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Concentration: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~75.25% of employees are based in Cleveland HQ, while ~24.75% are remote. Remote hiring has increased steadily since 2010, showing flexibility in workforce strategy.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Profile: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age is ~38.43 years. Most employees are between 25–45 years, balancing fresh talent with experienced professionals.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Diversity: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is predominantly Male/Female, with representation of Non‑Conforming employees. Gender diversity initiatives could be strengthened in technical departments.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Racial Diversity: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representation across White, Black or African American, Asian, Hispanic/Latino, Native Hawaiian/Pacific Islander, American Indian/Alaska Native, and Two or More Races. Engineering leans more towards White/Asian, while Business Development and Services show broader diversity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Departmental Strength: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is the largest department, followed by Business Development and Training. Smaller but critical functions like Legal, Auditing, and Marketing exist but have fewer employees.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Trends: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peaked in the early 2000s (HQ‑centric) and shifted towards remote roles post‑2010, aligning with modern workforce practices.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355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734E-2D38-7C62-A807-0283424AC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Suggestions/Recommendations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8A45-394B-7616-A81A-29CD4D24A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8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Remote Strategy: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remote hiring is increasing, invest in stronger remote collaboration tools and policies to maintain productivity and engagement.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Diversity Programs: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racial diversity is strong, gender diversity in technical roles (Engineering, IT) could be improved through targeted recruitment and mentorship.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Succession Planning: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significant portion of employees in the 40–55 age range, prepare leadership pipelines and knowledge transfer programs to avoid skill gaps.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Departmental Balance: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dominates headcount. Consider strengthening smaller departments (Legal, Auditing, Marketing) to support growth and compliance.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Focus: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term dates to identify attrition patterns. Tailored retention strategies (career growth, training, flexible work) can reduce turnover.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979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553A4-D485-EF59-D1FB-F93603CE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14604"/>
            <a:ext cx="8976016" cy="1194318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+mn-lt"/>
              </a:rPr>
              <a:t>Executive Summary</a:t>
            </a:r>
            <a:br>
              <a:rPr lang="en-IN" b="1" dirty="0"/>
            </a:br>
            <a:r>
              <a:rPr lang="en-IN" b="1" dirty="0"/>
              <a:t>     </a:t>
            </a:r>
            <a:r>
              <a:rPr lang="en-IN" sz="2700" b="1" dirty="0"/>
              <a:t>Analysis of workforce metrics and trends from the dataset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0AA19-BDDC-DF7E-95E5-F4DC5F353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7910" y="1520889"/>
            <a:ext cx="4693298" cy="488924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900" b="1" dirty="0"/>
              <a:t>KEY FINDINGS</a:t>
            </a:r>
          </a:p>
          <a:p>
            <a:r>
              <a:rPr lang="en-IN" b="1" dirty="0"/>
              <a:t>Total Employees: </a:t>
            </a:r>
            <a:r>
              <a:rPr lang="en-IN" dirty="0"/>
              <a:t>22,214 records analysed</a:t>
            </a:r>
          </a:p>
          <a:p>
            <a:r>
              <a:rPr lang="en-IN" dirty="0"/>
              <a:t> </a:t>
            </a:r>
            <a:r>
              <a:rPr lang="en-IN" b="1" dirty="0"/>
              <a:t>18% Attrition </a:t>
            </a:r>
            <a:r>
              <a:rPr lang="en-IN" dirty="0"/>
              <a:t>observed [4,000 terminated]</a:t>
            </a:r>
          </a:p>
          <a:p>
            <a:r>
              <a:rPr lang="en-IN" dirty="0"/>
              <a:t> </a:t>
            </a:r>
            <a:r>
              <a:rPr lang="en-IN" b="1" dirty="0"/>
              <a:t>HQ: 75% </a:t>
            </a:r>
            <a:r>
              <a:rPr lang="en-IN" dirty="0"/>
              <a:t>Cleveland, 25% Remote.</a:t>
            </a:r>
          </a:p>
          <a:p>
            <a:r>
              <a:rPr lang="en-IN" b="1" dirty="0"/>
              <a:t> Avg. Age</a:t>
            </a:r>
            <a:r>
              <a:rPr lang="en-IN" dirty="0"/>
              <a:t>: 38.4 years</a:t>
            </a:r>
          </a:p>
          <a:p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900" b="1" dirty="0"/>
              <a:t>Implication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b="1" dirty="0"/>
              <a:t>High attrition </a:t>
            </a:r>
            <a:r>
              <a:rPr lang="en-IN" dirty="0"/>
              <a:t>highlights retention challenges.</a:t>
            </a:r>
          </a:p>
          <a:p>
            <a:pPr marL="0" indent="0">
              <a:buNone/>
            </a:pPr>
            <a:r>
              <a:rPr lang="en-IN" dirty="0"/>
              <a:t> Ohio HQ with growing </a:t>
            </a:r>
            <a:r>
              <a:rPr lang="en-IN" b="1" dirty="0"/>
              <a:t>remote workforce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Diverse</a:t>
            </a:r>
            <a:r>
              <a:rPr lang="en-IN" dirty="0"/>
              <a:t> employee demographics</a:t>
            </a:r>
          </a:p>
          <a:p>
            <a:pPr marL="0" indent="0">
              <a:buNone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900" b="1" dirty="0"/>
              <a:t>Recommendations</a:t>
            </a:r>
          </a:p>
          <a:p>
            <a:r>
              <a:rPr lang="en-IN" b="1" dirty="0"/>
              <a:t>Investigate attrition </a:t>
            </a:r>
            <a:r>
              <a:rPr lang="en-IN" dirty="0"/>
              <a:t>root causes and address.</a:t>
            </a:r>
          </a:p>
          <a:p>
            <a:r>
              <a:rPr lang="en-IN" dirty="0"/>
              <a:t>Enhance </a:t>
            </a:r>
            <a:r>
              <a:rPr lang="en-IN" b="1" dirty="0"/>
              <a:t>engagement</a:t>
            </a:r>
            <a:r>
              <a:rPr lang="en-IN" dirty="0"/>
              <a:t> for remote staff </a:t>
            </a:r>
          </a:p>
          <a:p>
            <a:r>
              <a:rPr lang="en-IN" dirty="0"/>
              <a:t>Promote diversity and inclusion initiatives.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1AA462-6F86-F741-295B-5847A7A5C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221" y="1712330"/>
            <a:ext cx="1164651" cy="10775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069BBF-2354-B0C4-5590-3EC05F73F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367" y="1712329"/>
            <a:ext cx="1368747" cy="1077523"/>
          </a:xfrm>
          <a:prstGeom prst="rect">
            <a:avLst/>
          </a:prstGeom>
        </p:spPr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7D72DEB2-F15A-1B50-5B93-D785A3BCBD0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04" b="13604"/>
          <a:stretch>
            <a:fillRect/>
          </a:stretch>
        </p:blipFill>
        <p:spPr>
          <a:xfrm>
            <a:off x="8070979" y="1712329"/>
            <a:ext cx="1614197" cy="1002879"/>
          </a:xfr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000B95F-1243-ED6F-8066-E8D7ADADD5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611" y="3093259"/>
            <a:ext cx="2629005" cy="169334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DC657A3-37EA-E5CE-4FBD-2903CCD48104}"/>
              </a:ext>
            </a:extLst>
          </p:cNvPr>
          <p:cNvSpPr txBox="1"/>
          <p:nvPr/>
        </p:nvSpPr>
        <p:spPr>
          <a:xfrm>
            <a:off x="7977673" y="3256384"/>
            <a:ext cx="3331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Hiring Peaked in early 2000s, stabilized around 1k hires/year, declined after 2015.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DD6E8D-CAB3-BEB4-B3E6-31CBDAD02A33}"/>
              </a:ext>
            </a:extLst>
          </p:cNvPr>
          <p:cNvSpPr txBox="1"/>
          <p:nvPr/>
        </p:nvSpPr>
        <p:spPr>
          <a:xfrm>
            <a:off x="5097368" y="5318449"/>
            <a:ext cx="6351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&gt; Closing Note:</a:t>
            </a:r>
            <a:r>
              <a:rPr lang="en-US" dirty="0"/>
              <a:t> Insights from this analysis provide a foundation for strategic workforce planning and informed HR decision‑making.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802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1077</Words>
  <Application>Microsoft Office PowerPoint</Application>
  <PresentationFormat>Widescreen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PRDA – 03 HR Analytics</vt:lpstr>
      <vt:lpstr>Agenda</vt:lpstr>
      <vt:lpstr>Data Set Overview</vt:lpstr>
      <vt:lpstr>Key Force KPIs</vt:lpstr>
      <vt:lpstr>PowerPoint Presentation</vt:lpstr>
      <vt:lpstr>PowerPoint Presentation</vt:lpstr>
      <vt:lpstr>PowerPoint Presentation</vt:lpstr>
      <vt:lpstr>PowerPoint Presentation</vt:lpstr>
      <vt:lpstr>Hiring Trend Summary</vt:lpstr>
      <vt:lpstr>Analysis of your HR dataset across multiple features</vt:lpstr>
      <vt:lpstr>Demographics</vt:lpstr>
      <vt:lpstr>Departmental Insights</vt:lpstr>
      <vt:lpstr>Insights Derived</vt:lpstr>
      <vt:lpstr>Suggestions/Recommendations</vt:lpstr>
      <vt:lpstr>Executive Summary      Analysis of workforce metrics and trends from the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Shekar</dc:creator>
  <cp:lastModifiedBy>Pavithra Shekar</cp:lastModifiedBy>
  <cp:revision>3</cp:revision>
  <dcterms:created xsi:type="dcterms:W3CDTF">2026-09-24T13:43:00Z</dcterms:created>
  <dcterms:modified xsi:type="dcterms:W3CDTF">2026-10-01T10:36:58Z</dcterms:modified>
</cp:coreProperties>
</file>